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2" r:id="rId5"/>
    <p:sldId id="263" r:id="rId6"/>
    <p:sldId id="265" r:id="rId7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9"/>
      <p:bold r:id="rId10"/>
      <p:italic r:id="rId11"/>
      <p:boldItalic r:id="rId12"/>
    </p:embeddedFont>
    <p:embeddedFont>
      <p:font typeface="Playfair Display" panose="00000500000000000000" pitchFamily="2" charset="0"/>
      <p:regular r:id="rId13"/>
      <p:bold r:id="rId14"/>
      <p:italic r:id="rId15"/>
      <p:boldItalic r:id="rId16"/>
    </p:embeddedFont>
    <p:embeddedFont>
      <p:font typeface="Playfair Display SemiBold" panose="020B0604020202020204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6ec8bcfe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6ec8bcfe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6ec8bcfea_0_4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6ec8bcfea_0_4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6ec8bcfea_0_45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6ec8bcfea_0_45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6ec8bcfea_0_4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6ec8bcfea_0_4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6ec8bcfea_0_46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6ec8bcfea_0_46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920020" y="4366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La Gratuidad Universitaria en Argentina </a:t>
            </a:r>
            <a:endParaRPr sz="32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id="65" name="Google Shape;65;p13" descr="Archivo:Faximil del períodico el Argentino mostrando la fachada de ..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613160">
            <a:off x="6959047" y="1650991"/>
            <a:ext cx="3438355" cy="339616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3306300" y="1144025"/>
            <a:ext cx="2531400" cy="20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6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1949</a:t>
            </a:r>
            <a:endParaRPr sz="96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67" name="Google Shape;67;p13" descr="Archivo:El Faro Nacional, número 61, 5 de enero de 1852.jpg ...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26911">
            <a:off x="-637295" y="1651685"/>
            <a:ext cx="2930990" cy="3969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 descr="Dibujo vectorial de retrato de Eva Perón | Vectores de dominio públ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551" y="1715236"/>
            <a:ext cx="2351625" cy="353099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/>
          <p:nvPr/>
        </p:nvSpPr>
        <p:spPr>
          <a:xfrm>
            <a:off x="2743875" y="2693250"/>
            <a:ext cx="39690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Contexto, implementación e Impacto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B8A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294600" y="2338875"/>
            <a:ext cx="88494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838" b="1">
              <a:solidFill>
                <a:srgbClr val="4F4E50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ctrTitle"/>
          </p:nvPr>
        </p:nvSpPr>
        <p:spPr>
          <a:xfrm>
            <a:off x="455625" y="512450"/>
            <a:ext cx="83229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740">
                <a:latin typeface="Playfair Display"/>
                <a:ea typeface="Playfair Display"/>
                <a:cs typeface="Playfair Display"/>
                <a:sym typeface="Playfair Display"/>
              </a:rPr>
              <a:t>¿Cómo se garantizó el acceso a la educación superior en Argentina?</a:t>
            </a:r>
            <a:endParaRPr sz="274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1"/>
          </p:nvPr>
        </p:nvSpPr>
        <p:spPr>
          <a:xfrm>
            <a:off x="598350" y="1992675"/>
            <a:ext cx="5044500" cy="4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Decreto 29.337/1949 bajo Perón estableció:</a:t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441000" y="2693250"/>
            <a:ext cx="8262000" cy="14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Gratuidad absoluta (sin aranceles, art. 75 CN) 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Acceso irrestricto (solo título secundario, sin examen) 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Autonomía universitaria (Ley 13.031/1947)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B8A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/>
        </p:nvSpPr>
        <p:spPr>
          <a:xfrm>
            <a:off x="294600" y="2338875"/>
            <a:ext cx="88494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838" b="1">
              <a:solidFill>
                <a:srgbClr val="4F4E50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413400" y="2652075"/>
            <a:ext cx="8317200" cy="2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●"/>
            </a:pPr>
            <a:r>
              <a:rPr lang="es" sz="2740" b="1" i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Autonomía universitaria</a:t>
            </a:r>
            <a:endParaRPr sz="2740" b="1" i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○"/>
            </a:pPr>
            <a:r>
              <a:rPr lang="es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Las universidades públicas gestionan sus programas académicos (Ley 13.031, 1947). 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○"/>
            </a:pPr>
            <a:r>
              <a:rPr lang="es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El Estado garantiza fondos pero no interviene en contenidos.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42800" y="394875"/>
            <a:ext cx="8316000" cy="2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●"/>
            </a:pPr>
            <a:r>
              <a:rPr lang="es" sz="2740" b="1" i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Acceso irrestricto</a:t>
            </a:r>
            <a:endParaRPr sz="2740" b="1" i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8000" lvl="1" indent="-357400" algn="just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○"/>
            </a:pPr>
            <a:r>
              <a:rPr lang="es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Sin exámenes de ingreso en la mayoría de las carreras (salvo excepciones como Medicina). 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○"/>
            </a:pPr>
            <a:r>
              <a:rPr lang="es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Solo requiere título secundario (Ley de Educación Superior 24.521, 1995).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B8A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/>
        </p:nvSpPr>
        <p:spPr>
          <a:xfrm>
            <a:off x="294600" y="2338875"/>
            <a:ext cx="88494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838" b="1">
              <a:solidFill>
                <a:srgbClr val="4F4E50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9"/>
          <p:cNvSpPr txBox="1">
            <a:spLocks noGrp="1"/>
          </p:cNvSpPr>
          <p:nvPr>
            <p:ph type="ctrTitle"/>
          </p:nvPr>
        </p:nvSpPr>
        <p:spPr>
          <a:xfrm>
            <a:off x="2906400" y="420600"/>
            <a:ext cx="33312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740">
                <a:latin typeface="Playfair Display"/>
                <a:ea typeface="Playfair Display"/>
                <a:cs typeface="Playfair Display"/>
                <a:sym typeface="Playfair Display"/>
              </a:rPr>
              <a:t>Impacto Inmediato</a:t>
            </a:r>
            <a:endParaRPr sz="274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441000" y="3412125"/>
            <a:ext cx="8262000" cy="14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 UBA duplicó su matrícula entre 1945 y 1955 (+112%).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 política educativa fue acompañada por fuerte inversión estatal.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p19" title="linea del timep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8700" y="1013850"/>
            <a:ext cx="5867276" cy="220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B8A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/>
        </p:nvSpPr>
        <p:spPr>
          <a:xfrm>
            <a:off x="294600" y="2338875"/>
            <a:ext cx="88494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838" b="1">
              <a:solidFill>
                <a:srgbClr val="4F4E50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0"/>
          <p:cNvSpPr txBox="1">
            <a:spLocks noGrp="1"/>
          </p:cNvSpPr>
          <p:nvPr>
            <p:ph type="ctrTitle"/>
          </p:nvPr>
        </p:nvSpPr>
        <p:spPr>
          <a:xfrm>
            <a:off x="2952000" y="179550"/>
            <a:ext cx="3240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740">
                <a:latin typeface="Playfair Display"/>
                <a:ea typeface="Playfair Display"/>
                <a:cs typeface="Playfair Display"/>
                <a:sym typeface="Playfair Display"/>
              </a:rPr>
              <a:t>Legado Actual</a:t>
            </a:r>
            <a:endParaRPr sz="374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441000" y="3189375"/>
            <a:ext cx="4131000" cy="16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"/>
              <a:buChar char="●"/>
            </a:pPr>
            <a:r>
              <a:rPr lang="es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Argentina es polo académico regional.</a:t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"/>
              <a:buChar char="●"/>
            </a:pPr>
            <a:r>
              <a:rPr lang="es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Gratuidad sigue vigente y es distintiva en Latinoamérica.</a:t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"/>
              <a:buChar char="●"/>
            </a:pPr>
            <a:r>
              <a:rPr lang="es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Desafíos actuales: masificación, calidad, financiamiento.</a:t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20" title="Figure_1_extrajer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600" y="1049175"/>
            <a:ext cx="4214830" cy="17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0" title="Figure_1_extrajerosporcentaj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49175"/>
            <a:ext cx="4358251" cy="165929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/>
        </p:nvSpPr>
        <p:spPr>
          <a:xfrm>
            <a:off x="4799250" y="3189375"/>
            <a:ext cx="4131000" cy="16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"/>
              <a:buChar char="●"/>
            </a:pPr>
            <a:r>
              <a:rPr lang="es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Vigencia: Argentina sigue siendo uno de los pocos países con universidad pública y gratuita.</a:t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Ejemplo: Chile vs Argentina</a:t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B8A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/>
        </p:nvSpPr>
        <p:spPr>
          <a:xfrm>
            <a:off x="294600" y="2338875"/>
            <a:ext cx="88494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838" b="1">
              <a:solidFill>
                <a:srgbClr val="4F4E50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2"/>
          <p:cNvSpPr txBox="1">
            <a:spLocks noGrp="1"/>
          </p:cNvSpPr>
          <p:nvPr>
            <p:ph type="ctrTitle"/>
          </p:nvPr>
        </p:nvSpPr>
        <p:spPr>
          <a:xfrm>
            <a:off x="198000" y="65450"/>
            <a:ext cx="83229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5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📚 </a:t>
            </a:r>
            <a:r>
              <a:rPr lang="es" sz="3500" b="1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Bibliografía</a:t>
            </a:r>
            <a:endParaRPr sz="514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1" name="Google Shape;151;p22"/>
          <p:cNvSpPr txBox="1">
            <a:spLocks noGrp="1"/>
          </p:cNvSpPr>
          <p:nvPr>
            <p:ph type="subTitle" idx="1"/>
          </p:nvPr>
        </p:nvSpPr>
        <p:spPr>
          <a:xfrm>
            <a:off x="117075" y="916738"/>
            <a:ext cx="38565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NORMATIVA HISTÓRICA Y FUNDACIONAL</a:t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117075" y="1220425"/>
            <a:ext cx="4550700" cy="13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##1 </a:t>
            </a:r>
            <a:r>
              <a:rPr lang="e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Decreto N.º 29.337/1949 </a:t>
            </a:r>
            <a:r>
              <a:rPr lang="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|| https://www.undav.edu.ar/general/recursos/adjuntos/13382.pdf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##2</a:t>
            </a:r>
            <a:r>
              <a:rPr lang="e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Ley 13.031/1947</a:t>
            </a:r>
            <a:r>
              <a:rPr lang="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|| http://www.bnm.me.gov.ar/giga1/normas/4169.pdf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##3 </a:t>
            </a:r>
            <a:r>
              <a:rPr lang="e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Historia de la Gratuidad Universitaria</a:t>
            </a:r>
            <a:r>
              <a:rPr lang="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|| https://gratuidaduniversitaria.cin.edu.ar/informacion/historia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2"/>
          <p:cNvSpPr txBox="1">
            <a:spLocks noGrp="1"/>
          </p:cNvSpPr>
          <p:nvPr>
            <p:ph type="subTitle" idx="1"/>
          </p:nvPr>
        </p:nvSpPr>
        <p:spPr>
          <a:xfrm>
            <a:off x="117075" y="2771163"/>
            <a:ext cx="38565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ESTADÍSTICAS Y DATOS OFICIALES</a:t>
            </a:r>
            <a:endParaRPr/>
          </a:p>
        </p:txBody>
      </p:sp>
      <p:sp>
        <p:nvSpPr>
          <p:cNvPr id="154" name="Google Shape;154;p22"/>
          <p:cNvSpPr txBox="1"/>
          <p:nvPr/>
        </p:nvSpPr>
        <p:spPr>
          <a:xfrm>
            <a:off x="-58950" y="3052263"/>
            <a:ext cx="4876800" cy="11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##4 </a:t>
            </a:r>
            <a:r>
              <a:rPr lang="es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Síntesis de Información Estadística Universitaria 2021–2022 </a:t>
            </a: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https://www.argentina.gob.ar/sites/default/files/sintesis_2021- 2022_sistema_universitario_argentino_1.pdf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##5 </a:t>
            </a:r>
            <a:r>
              <a:rPr lang="es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Serie Histórica del Sistema Universitario Argentino </a:t>
            </a: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https://www.argentina.gob.ar/sites/default/files/anuario_1999-2000.pdf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##6 </a:t>
            </a:r>
            <a:r>
              <a:rPr lang="es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Anuarios Estadísticos Universitarios </a:t>
            </a: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https://www.argentina.gob.ar/educacion/universidades/informacion/publicaciones/anuarios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2"/>
          <p:cNvSpPr txBox="1">
            <a:spLocks noGrp="1"/>
          </p:cNvSpPr>
          <p:nvPr>
            <p:ph type="subTitle" idx="1"/>
          </p:nvPr>
        </p:nvSpPr>
        <p:spPr>
          <a:xfrm>
            <a:off x="4817850" y="290025"/>
            <a:ext cx="38565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ESTUDIANTES EXTRANJEROS Y COMPARATIVAS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4646100" y="686925"/>
            <a:ext cx="4476300" cy="12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##7 </a:t>
            </a:r>
            <a:r>
              <a:rPr lang="e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Informe sobre Estudiantes Extranjeros en Universidades Argentinas </a:t>
            </a:r>
            <a:r>
              <a:rPr lang="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https://chequeado.com/el-explicador/extranjeros-en-las-universidades-argentinasrepresentan-menos-del-5-del-total-de-estudiantes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##8 </a:t>
            </a:r>
            <a:r>
              <a:rPr lang="e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Distribución de Estudiantes Extranjeros por Tipo de Gestión </a:t>
            </a:r>
            <a:r>
              <a:rPr lang="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https://www.lanacion.com.ar/sociedad/marcha-universitaria-cuantos-estudiantes-vana-las-universidades-publicas-que-porcentaje-son-nid22042024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2"/>
          <p:cNvSpPr txBox="1">
            <a:spLocks noGrp="1"/>
          </p:cNvSpPr>
          <p:nvPr>
            <p:ph type="subTitle" idx="1"/>
          </p:nvPr>
        </p:nvSpPr>
        <p:spPr>
          <a:xfrm>
            <a:off x="4956000" y="2888638"/>
            <a:ext cx="38565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BIBLIOGRAFÍA ACADÉMICA COMPLEMENTARIA</a:t>
            </a:r>
            <a:endParaRPr/>
          </a:p>
        </p:txBody>
      </p:sp>
      <p:sp>
        <p:nvSpPr>
          <p:cNvPr id="158" name="Google Shape;158;p22"/>
          <p:cNvSpPr txBox="1"/>
          <p:nvPr/>
        </p:nvSpPr>
        <p:spPr>
          <a:xfrm>
            <a:off x="4817850" y="3215913"/>
            <a:ext cx="4132800" cy="11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##9</a:t>
            </a:r>
            <a:r>
              <a:rPr lang="e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Leyes Universitarias Argentinas: Un Recorrido Histórico </a:t>
            </a:r>
            <a:r>
              <a:rPr lang="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https://biblioteca.clacso.edu.ar/Argentina/iec-conadu/20171115041357/pdf_937.pdf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##10 </a:t>
            </a:r>
            <a:r>
              <a:rPr lang="e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Permanencia de las y los Estudiantes en la Universidad </a:t>
            </a:r>
            <a:r>
              <a:rPr lang="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https://www.coneau.gob.ar/archivos/publicaciones/PermanenciaEstudiantesUniversid ad.pdf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468</Words>
  <Application>Microsoft Office PowerPoint</Application>
  <PresentationFormat>Presentación en pantalla (16:9)</PresentationFormat>
  <Paragraphs>38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Merriweather</vt:lpstr>
      <vt:lpstr>Playfair Display SemiBold</vt:lpstr>
      <vt:lpstr>Playfair Display</vt:lpstr>
      <vt:lpstr>Arial</vt:lpstr>
      <vt:lpstr>Roboto</vt:lpstr>
      <vt:lpstr>Paradigm</vt:lpstr>
      <vt:lpstr>Presentación de PowerPoint</vt:lpstr>
      <vt:lpstr>¿Cómo se garantizó el acceso a la educación superior en Argentina?</vt:lpstr>
      <vt:lpstr>Presentación de PowerPoint</vt:lpstr>
      <vt:lpstr>Impacto Inmediato</vt:lpstr>
      <vt:lpstr>Legado Actual</vt:lpstr>
      <vt:lpstr>📚 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Cielo Robledo</dc:creator>
  <cp:lastModifiedBy>Cielo Robledo</cp:lastModifiedBy>
  <cp:revision>3</cp:revision>
  <dcterms:modified xsi:type="dcterms:W3CDTF">2026-06-25T00:54:42Z</dcterms:modified>
</cp:coreProperties>
</file>